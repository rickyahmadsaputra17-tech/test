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embeddedFontLst>
    <p:embeddedFont>
      <p:font typeface="Sniglet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iNObz73RZKSkqDvOS0q6+9Ku2z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font" Target="fonts/Snigle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29.png"/><Relationship Id="rId6" Type="http://schemas.openxmlformats.org/officeDocument/2006/relationships/image" Target="../media/image9.png"/><Relationship Id="rId7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5" Type="http://schemas.openxmlformats.org/officeDocument/2006/relationships/image" Target="../media/image16.png"/><Relationship Id="rId6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7.png"/><Relationship Id="rId5" Type="http://schemas.openxmlformats.org/officeDocument/2006/relationships/image" Target="../media/image15.png"/><Relationship Id="rId6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4.png"/><Relationship Id="rId5" Type="http://schemas.openxmlformats.org/officeDocument/2006/relationships/image" Target="../media/image18.png"/><Relationship Id="rId6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64D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530061" y="-276622"/>
            <a:ext cx="19069843" cy="19069843"/>
          </a:xfrm>
          <a:custGeom>
            <a:rect b="b" l="l" r="r" t="t"/>
            <a:pathLst>
              <a:path extrusionOk="0" h="19069843" w="19069843">
                <a:moveTo>
                  <a:pt x="0" y="0"/>
                </a:moveTo>
                <a:lnTo>
                  <a:pt x="19069843" y="0"/>
                </a:lnTo>
                <a:lnTo>
                  <a:pt x="19069843" y="19069844"/>
                </a:lnTo>
                <a:lnTo>
                  <a:pt x="0" y="19069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2912187" y="1105649"/>
            <a:ext cx="12463626" cy="3549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1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orientation</a:t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2607499" y="6349557"/>
            <a:ext cx="13073002" cy="2908743"/>
          </a:xfrm>
          <a:custGeom>
            <a:rect b="b" l="l" r="r" t="t"/>
            <a:pathLst>
              <a:path extrusionOk="0" h="2908743" w="13073002">
                <a:moveTo>
                  <a:pt x="0" y="0"/>
                </a:moveTo>
                <a:lnTo>
                  <a:pt x="13073002" y="0"/>
                </a:lnTo>
                <a:lnTo>
                  <a:pt x="13073002" y="2908743"/>
                </a:lnTo>
                <a:lnTo>
                  <a:pt x="0" y="29087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5241362" y="5210813"/>
            <a:ext cx="7805275" cy="4341557"/>
          </a:xfrm>
          <a:custGeom>
            <a:rect b="b" l="l" r="r" t="t"/>
            <a:pathLst>
              <a:path extrusionOk="0" h="4341557" w="7805275">
                <a:moveTo>
                  <a:pt x="0" y="0"/>
                </a:moveTo>
                <a:lnTo>
                  <a:pt x="7805276" y="0"/>
                </a:lnTo>
                <a:lnTo>
                  <a:pt x="7805276" y="4341558"/>
                </a:lnTo>
                <a:lnTo>
                  <a:pt x="0" y="43415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3686" l="-23144" r="-16991" t="-8491"/>
            </a:stretch>
          </a:blipFill>
          <a:ln>
            <a:noFill/>
          </a:ln>
        </p:spPr>
      </p:sp>
      <p:sp>
        <p:nvSpPr>
          <p:cNvPr id="88" name="Google Shape;88;p1"/>
          <p:cNvSpPr txBox="1"/>
          <p:nvPr/>
        </p:nvSpPr>
        <p:spPr>
          <a:xfrm>
            <a:off x="7204282" y="3697097"/>
            <a:ext cx="3879436" cy="255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1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64D2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-530061" y="-276622"/>
            <a:ext cx="19069843" cy="19069843"/>
          </a:xfrm>
          <a:custGeom>
            <a:rect b="b" l="l" r="r" t="t"/>
            <a:pathLst>
              <a:path extrusionOk="0" h="19069843" w="19069843">
                <a:moveTo>
                  <a:pt x="0" y="0"/>
                </a:moveTo>
                <a:lnTo>
                  <a:pt x="19069843" y="0"/>
                </a:lnTo>
                <a:lnTo>
                  <a:pt x="19069843" y="19069844"/>
                </a:lnTo>
                <a:lnTo>
                  <a:pt x="0" y="19069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2"/>
          <p:cNvSpPr txBox="1"/>
          <p:nvPr/>
        </p:nvSpPr>
        <p:spPr>
          <a:xfrm>
            <a:off x="2879350" y="2745159"/>
            <a:ext cx="12529301" cy="49586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mpoin: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membangun kehidupan yang lebih baik, satu solusi sekaligus</a:t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5381485" y="8789882"/>
            <a:ext cx="777082" cy="1158253"/>
          </a:xfrm>
          <a:custGeom>
            <a:rect b="b" l="l" r="r" t="t"/>
            <a:pathLst>
              <a:path extrusionOk="0" h="1158253" w="777082">
                <a:moveTo>
                  <a:pt x="0" y="0"/>
                </a:moveTo>
                <a:lnTo>
                  <a:pt x="777082" y="0"/>
                </a:lnTo>
                <a:lnTo>
                  <a:pt x="777082" y="1158253"/>
                </a:lnTo>
                <a:lnTo>
                  <a:pt x="0" y="11582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p2"/>
          <p:cNvSpPr/>
          <p:nvPr/>
        </p:nvSpPr>
        <p:spPr>
          <a:xfrm>
            <a:off x="11462730" y="1919663"/>
            <a:ext cx="890392" cy="1327142"/>
          </a:xfrm>
          <a:custGeom>
            <a:rect b="b" l="l" r="r" t="t"/>
            <a:pathLst>
              <a:path extrusionOk="0" h="1327142" w="890392">
                <a:moveTo>
                  <a:pt x="0" y="0"/>
                </a:moveTo>
                <a:lnTo>
                  <a:pt x="890391" y="0"/>
                </a:lnTo>
                <a:lnTo>
                  <a:pt x="890391" y="1327142"/>
                </a:lnTo>
                <a:lnTo>
                  <a:pt x="0" y="13271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2"/>
          <p:cNvSpPr/>
          <p:nvPr/>
        </p:nvSpPr>
        <p:spPr>
          <a:xfrm>
            <a:off x="6158567" y="8321464"/>
            <a:ext cx="4684182" cy="936836"/>
          </a:xfrm>
          <a:custGeom>
            <a:rect b="b" l="l" r="r" t="t"/>
            <a:pathLst>
              <a:path extrusionOk="0" h="936836" w="4684182">
                <a:moveTo>
                  <a:pt x="0" y="0"/>
                </a:moveTo>
                <a:lnTo>
                  <a:pt x="4684182" y="0"/>
                </a:lnTo>
                <a:lnTo>
                  <a:pt x="4684182" y="936836"/>
                </a:lnTo>
                <a:lnTo>
                  <a:pt x="0" y="9368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2"/>
          <p:cNvSpPr/>
          <p:nvPr/>
        </p:nvSpPr>
        <p:spPr>
          <a:xfrm>
            <a:off x="10313256" y="8321464"/>
            <a:ext cx="4684182" cy="936836"/>
          </a:xfrm>
          <a:custGeom>
            <a:rect b="b" l="l" r="r" t="t"/>
            <a:pathLst>
              <a:path extrusionOk="0" h="936836" w="4684182">
                <a:moveTo>
                  <a:pt x="0" y="0"/>
                </a:moveTo>
                <a:lnTo>
                  <a:pt x="4684182" y="0"/>
                </a:lnTo>
                <a:lnTo>
                  <a:pt x="4684182" y="936836"/>
                </a:lnTo>
                <a:lnTo>
                  <a:pt x="0" y="9368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2"/>
          <p:cNvSpPr/>
          <p:nvPr/>
        </p:nvSpPr>
        <p:spPr>
          <a:xfrm>
            <a:off x="14422047" y="8321464"/>
            <a:ext cx="4684182" cy="936836"/>
          </a:xfrm>
          <a:custGeom>
            <a:rect b="b" l="l" r="r" t="t"/>
            <a:pathLst>
              <a:path extrusionOk="0" h="936836" w="4684182">
                <a:moveTo>
                  <a:pt x="0" y="0"/>
                </a:moveTo>
                <a:lnTo>
                  <a:pt x="4684182" y="0"/>
                </a:lnTo>
                <a:lnTo>
                  <a:pt x="4684182" y="936836"/>
                </a:lnTo>
                <a:lnTo>
                  <a:pt x="0" y="9368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2"/>
          <p:cNvSpPr/>
          <p:nvPr/>
        </p:nvSpPr>
        <p:spPr>
          <a:xfrm>
            <a:off x="-1262982" y="1236306"/>
            <a:ext cx="4684182" cy="936836"/>
          </a:xfrm>
          <a:custGeom>
            <a:rect b="b" l="l" r="r" t="t"/>
            <a:pathLst>
              <a:path extrusionOk="0" h="936836" w="4684182">
                <a:moveTo>
                  <a:pt x="0" y="0"/>
                </a:moveTo>
                <a:lnTo>
                  <a:pt x="4684181" y="0"/>
                </a:lnTo>
                <a:lnTo>
                  <a:pt x="4684181" y="936836"/>
                </a:lnTo>
                <a:lnTo>
                  <a:pt x="0" y="9368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2"/>
          <p:cNvSpPr/>
          <p:nvPr/>
        </p:nvSpPr>
        <p:spPr>
          <a:xfrm>
            <a:off x="2891707" y="1236306"/>
            <a:ext cx="4684182" cy="936836"/>
          </a:xfrm>
          <a:custGeom>
            <a:rect b="b" l="l" r="r" t="t"/>
            <a:pathLst>
              <a:path extrusionOk="0" h="936836" w="4684182">
                <a:moveTo>
                  <a:pt x="0" y="0"/>
                </a:moveTo>
                <a:lnTo>
                  <a:pt x="4684181" y="0"/>
                </a:lnTo>
                <a:lnTo>
                  <a:pt x="4684181" y="936836"/>
                </a:lnTo>
                <a:lnTo>
                  <a:pt x="0" y="9368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2"/>
          <p:cNvSpPr/>
          <p:nvPr/>
        </p:nvSpPr>
        <p:spPr>
          <a:xfrm>
            <a:off x="7000497" y="1236306"/>
            <a:ext cx="4684182" cy="936836"/>
          </a:xfrm>
          <a:custGeom>
            <a:rect b="b" l="l" r="r" t="t"/>
            <a:pathLst>
              <a:path extrusionOk="0" h="936836" w="4684182">
                <a:moveTo>
                  <a:pt x="0" y="0"/>
                </a:moveTo>
                <a:lnTo>
                  <a:pt x="4684182" y="0"/>
                </a:lnTo>
                <a:lnTo>
                  <a:pt x="4684182" y="936836"/>
                </a:lnTo>
                <a:lnTo>
                  <a:pt x="0" y="9368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64D2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/>
          <p:nvPr/>
        </p:nvSpPr>
        <p:spPr>
          <a:xfrm>
            <a:off x="-530061" y="-276622"/>
            <a:ext cx="19069843" cy="19069843"/>
          </a:xfrm>
          <a:custGeom>
            <a:rect b="b" l="l" r="r" t="t"/>
            <a:pathLst>
              <a:path extrusionOk="0" h="19069843" w="19069843">
                <a:moveTo>
                  <a:pt x="0" y="0"/>
                </a:moveTo>
                <a:lnTo>
                  <a:pt x="19069843" y="0"/>
                </a:lnTo>
                <a:lnTo>
                  <a:pt x="19069843" y="19069844"/>
                </a:lnTo>
                <a:lnTo>
                  <a:pt x="0" y="19069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3"/>
          <p:cNvSpPr/>
          <p:nvPr/>
        </p:nvSpPr>
        <p:spPr>
          <a:xfrm>
            <a:off x="482702" y="1028700"/>
            <a:ext cx="4581255" cy="4114800"/>
          </a:xfrm>
          <a:custGeom>
            <a:rect b="b" l="l" r="r" t="t"/>
            <a:pathLst>
              <a:path extrusionOk="0"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3"/>
          <p:cNvSpPr txBox="1"/>
          <p:nvPr/>
        </p:nvSpPr>
        <p:spPr>
          <a:xfrm>
            <a:off x="5748557" y="4223175"/>
            <a:ext cx="11047837" cy="2790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99" u="none" cap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Tapi gerakan pejuang yang berfokus, menciptakan produk yang menyelesaikan masalah nyata di lapangan</a:t>
            </a:r>
            <a:endParaRPr/>
          </a:p>
          <a:p>
            <a:pPr indent="0" lvl="0" marL="0" marR="0" rtl="0" algn="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599" u="none" cap="none" strike="noStrike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110" name="Google Shape;110;p3"/>
          <p:cNvSpPr/>
          <p:nvPr/>
        </p:nvSpPr>
        <p:spPr>
          <a:xfrm rot="-9491877">
            <a:off x="10055358" y="7737897"/>
            <a:ext cx="7315200" cy="809693"/>
          </a:xfrm>
          <a:custGeom>
            <a:rect b="b" l="l" r="r" t="t"/>
            <a:pathLst>
              <a:path extrusionOk="0" h="809693" w="7315200">
                <a:moveTo>
                  <a:pt x="0" y="0"/>
                </a:moveTo>
                <a:lnTo>
                  <a:pt x="7315200" y="0"/>
                </a:lnTo>
                <a:lnTo>
                  <a:pt x="7315200" y="809694"/>
                </a:lnTo>
                <a:lnTo>
                  <a:pt x="0" y="809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3"/>
          <p:cNvSpPr txBox="1"/>
          <p:nvPr/>
        </p:nvSpPr>
        <p:spPr>
          <a:xfrm>
            <a:off x="6448769" y="1629606"/>
            <a:ext cx="9220088" cy="2089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MPOIN bukan hanya perusahaan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1383286" y="7366139"/>
            <a:ext cx="13904736" cy="1667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Kita bekerja dengan rasa memiliki dan fokus, bukan sekadar cari gaji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64D2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-530061" y="-276622"/>
            <a:ext cx="19069843" cy="19069843"/>
          </a:xfrm>
          <a:custGeom>
            <a:rect b="b" l="l" r="r" t="t"/>
            <a:pathLst>
              <a:path extrusionOk="0" h="19069843" w="19069843">
                <a:moveTo>
                  <a:pt x="0" y="0"/>
                </a:moveTo>
                <a:lnTo>
                  <a:pt x="19069843" y="0"/>
                </a:lnTo>
                <a:lnTo>
                  <a:pt x="19069843" y="19069844"/>
                </a:lnTo>
                <a:lnTo>
                  <a:pt x="0" y="19069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4"/>
          <p:cNvSpPr/>
          <p:nvPr/>
        </p:nvSpPr>
        <p:spPr>
          <a:xfrm>
            <a:off x="11987386" y="-2138885"/>
            <a:ext cx="6300614" cy="6335169"/>
          </a:xfrm>
          <a:custGeom>
            <a:rect b="b" l="l" r="r" t="t"/>
            <a:pathLst>
              <a:path extrusionOk="0" h="6335169" w="6300614">
                <a:moveTo>
                  <a:pt x="0" y="0"/>
                </a:moveTo>
                <a:lnTo>
                  <a:pt x="6300614" y="0"/>
                </a:lnTo>
                <a:lnTo>
                  <a:pt x="6300614" y="6335170"/>
                </a:lnTo>
                <a:lnTo>
                  <a:pt x="0" y="63351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4"/>
          <p:cNvSpPr/>
          <p:nvPr/>
        </p:nvSpPr>
        <p:spPr>
          <a:xfrm>
            <a:off x="5415235" y="-3167585"/>
            <a:ext cx="6300614" cy="6335169"/>
          </a:xfrm>
          <a:custGeom>
            <a:rect b="b" l="l" r="r" t="t"/>
            <a:pathLst>
              <a:path extrusionOk="0" h="6335169" w="6300614">
                <a:moveTo>
                  <a:pt x="0" y="0"/>
                </a:moveTo>
                <a:lnTo>
                  <a:pt x="6300614" y="0"/>
                </a:lnTo>
                <a:lnTo>
                  <a:pt x="6300614" y="6335170"/>
                </a:lnTo>
                <a:lnTo>
                  <a:pt x="0" y="63351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4"/>
          <p:cNvSpPr txBox="1"/>
          <p:nvPr/>
        </p:nvSpPr>
        <p:spPr>
          <a:xfrm>
            <a:off x="4307244" y="4573919"/>
            <a:ext cx="9395232" cy="130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0" u="none" cap="none" strike="noStrike">
                <a:solidFill>
                  <a:srgbClr val="F1DB62"/>
                </a:solidFill>
                <a:latin typeface="Arial"/>
                <a:ea typeface="Arial"/>
                <a:cs typeface="Arial"/>
                <a:sym typeface="Arial"/>
              </a:rPr>
              <a:t>kenapa kita ada?</a:t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-1457861" y="-1923176"/>
            <a:ext cx="6300614" cy="6335169"/>
          </a:xfrm>
          <a:custGeom>
            <a:rect b="b" l="l" r="r" t="t"/>
            <a:pathLst>
              <a:path extrusionOk="0" h="6335169" w="6300614">
                <a:moveTo>
                  <a:pt x="0" y="0"/>
                </a:moveTo>
                <a:lnTo>
                  <a:pt x="6300613" y="0"/>
                </a:lnTo>
                <a:lnTo>
                  <a:pt x="6300613" y="6335170"/>
                </a:lnTo>
                <a:lnTo>
                  <a:pt x="0" y="63351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4"/>
          <p:cNvSpPr/>
          <p:nvPr/>
        </p:nvSpPr>
        <p:spPr>
          <a:xfrm>
            <a:off x="-530061" y="8457537"/>
            <a:ext cx="19823755" cy="5426753"/>
          </a:xfrm>
          <a:custGeom>
            <a:rect b="b" l="l" r="r" t="t"/>
            <a:pathLst>
              <a:path extrusionOk="0" h="5426753" w="19823755">
                <a:moveTo>
                  <a:pt x="0" y="0"/>
                </a:moveTo>
                <a:lnTo>
                  <a:pt x="19823755" y="0"/>
                </a:lnTo>
                <a:lnTo>
                  <a:pt x="19823755" y="5426753"/>
                </a:lnTo>
                <a:lnTo>
                  <a:pt x="0" y="54267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4"/>
          <p:cNvSpPr/>
          <p:nvPr/>
        </p:nvSpPr>
        <p:spPr>
          <a:xfrm>
            <a:off x="13702477" y="2953454"/>
            <a:ext cx="6679904" cy="6304846"/>
          </a:xfrm>
          <a:custGeom>
            <a:rect b="b" l="l" r="r" t="t"/>
            <a:pathLst>
              <a:path extrusionOk="0" h="6304846" w="6679904">
                <a:moveTo>
                  <a:pt x="0" y="0"/>
                </a:moveTo>
                <a:lnTo>
                  <a:pt x="6679904" y="0"/>
                </a:lnTo>
                <a:lnTo>
                  <a:pt x="6679904" y="6304846"/>
                </a:lnTo>
                <a:lnTo>
                  <a:pt x="0" y="63048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4"/>
          <p:cNvSpPr/>
          <p:nvPr/>
        </p:nvSpPr>
        <p:spPr>
          <a:xfrm>
            <a:off x="0" y="8746221"/>
            <a:ext cx="4857601" cy="1271808"/>
          </a:xfrm>
          <a:custGeom>
            <a:rect b="b" l="l" r="r" t="t"/>
            <a:pathLst>
              <a:path extrusionOk="0" h="1271808" w="4857601">
                <a:moveTo>
                  <a:pt x="0" y="0"/>
                </a:moveTo>
                <a:lnTo>
                  <a:pt x="4857601" y="0"/>
                </a:lnTo>
                <a:lnTo>
                  <a:pt x="4857601" y="1271808"/>
                </a:lnTo>
                <a:lnTo>
                  <a:pt x="0" y="12718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64D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/>
          <p:nvPr/>
        </p:nvSpPr>
        <p:spPr>
          <a:xfrm>
            <a:off x="-530061" y="-276622"/>
            <a:ext cx="19069843" cy="19069843"/>
          </a:xfrm>
          <a:custGeom>
            <a:rect b="b" l="l" r="r" t="t"/>
            <a:pathLst>
              <a:path extrusionOk="0" h="19069843" w="19069843">
                <a:moveTo>
                  <a:pt x="0" y="0"/>
                </a:moveTo>
                <a:lnTo>
                  <a:pt x="19069843" y="0"/>
                </a:lnTo>
                <a:lnTo>
                  <a:pt x="19069843" y="19069844"/>
                </a:lnTo>
                <a:lnTo>
                  <a:pt x="0" y="19069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0" name="Google Shape;130;p5"/>
          <p:cNvGrpSpPr/>
          <p:nvPr/>
        </p:nvGrpSpPr>
        <p:grpSpPr>
          <a:xfrm>
            <a:off x="0" y="8532347"/>
            <a:ext cx="18288000" cy="3711280"/>
            <a:chOff x="0" y="-38100"/>
            <a:chExt cx="4816593" cy="977457"/>
          </a:xfrm>
        </p:grpSpPr>
        <p:sp>
          <p:nvSpPr>
            <p:cNvPr id="131" name="Google Shape;131;p5"/>
            <p:cNvSpPr/>
            <p:nvPr/>
          </p:nvSpPr>
          <p:spPr>
            <a:xfrm>
              <a:off x="0" y="0"/>
              <a:ext cx="4816592" cy="939357"/>
            </a:xfrm>
            <a:custGeom>
              <a:rect b="b" l="l" r="r" t="t"/>
              <a:pathLst>
                <a:path extrusionOk="0" h="9393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39357"/>
                  </a:lnTo>
                  <a:lnTo>
                    <a:pt x="0" y="939357"/>
                  </a:lnTo>
                  <a:close/>
                </a:path>
              </a:pathLst>
            </a:custGeom>
            <a:solidFill>
              <a:srgbClr val="35C9AC"/>
            </a:solidFill>
            <a:ln>
              <a:noFill/>
            </a:ln>
          </p:spPr>
        </p:sp>
        <p:sp>
          <p:nvSpPr>
            <p:cNvPr id="132" name="Google Shape;132;p5"/>
            <p:cNvSpPr txBox="1"/>
            <p:nvPr/>
          </p:nvSpPr>
          <p:spPr>
            <a:xfrm>
              <a:off x="0" y="-38100"/>
              <a:ext cx="4816593" cy="9774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p5"/>
          <p:cNvSpPr txBox="1"/>
          <p:nvPr/>
        </p:nvSpPr>
        <p:spPr>
          <a:xfrm>
            <a:off x="465501" y="2423705"/>
            <a:ext cx="17097354" cy="4784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“MPOIN hadir untuk menjadi pemimpin pasar yang menghadirkan </a:t>
            </a:r>
            <a:endParaRPr/>
          </a:p>
          <a:p>
            <a:pPr indent="0" lvl="0" marL="0" marR="0" rtl="0"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solusi nyata bagi masyarakat, menjadikan </a:t>
            </a:r>
            <a:endParaRPr/>
          </a:p>
          <a:p>
            <a:pPr indent="0" lvl="0" marL="0" marR="0" rtl="0"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hidup lebih baik, membangun kebanggaan </a:t>
            </a:r>
            <a:endParaRPr/>
          </a:p>
          <a:p>
            <a:pPr indent="0" lvl="0" marL="0" marR="0" rtl="0"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bangsa, dan meninggalkan </a:t>
            </a:r>
            <a:endParaRPr/>
          </a:p>
          <a:p>
            <a:pPr indent="0" lvl="0" marL="0" marR="0" rtl="0"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legacy lintas generasi.</a:t>
            </a:r>
            <a:endParaRPr/>
          </a:p>
          <a:p>
            <a:pPr indent="0" lvl="0" marL="0" marR="0" rtl="0"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465501" y="3145681"/>
            <a:ext cx="6445402" cy="5531327"/>
          </a:xfrm>
          <a:custGeom>
            <a:rect b="b" l="l" r="r" t="t"/>
            <a:pathLst>
              <a:path extrusionOk="0" h="5531327" w="6445402">
                <a:moveTo>
                  <a:pt x="0" y="0"/>
                </a:moveTo>
                <a:lnTo>
                  <a:pt x="6445402" y="0"/>
                </a:lnTo>
                <a:lnTo>
                  <a:pt x="6445402" y="5531327"/>
                </a:lnTo>
                <a:lnTo>
                  <a:pt x="0" y="55313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5"/>
          <p:cNvSpPr/>
          <p:nvPr/>
        </p:nvSpPr>
        <p:spPr>
          <a:xfrm>
            <a:off x="15751712" y="-1633945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5"/>
          <p:cNvSpPr txBox="1"/>
          <p:nvPr/>
        </p:nvSpPr>
        <p:spPr>
          <a:xfrm>
            <a:off x="1028700" y="1162050"/>
            <a:ext cx="7634077" cy="1983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99" u="none" cap="none" strike="noStrike">
                <a:solidFill>
                  <a:srgbClr val="F1DB62"/>
                </a:solidFill>
                <a:latin typeface="Arial"/>
                <a:ea typeface="Arial"/>
                <a:cs typeface="Arial"/>
                <a:sym typeface="Arial"/>
              </a:rPr>
              <a:t>Visi Perusahaan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599" u="none" cap="none" strike="noStrike">
              <a:solidFill>
                <a:srgbClr val="F1DB6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64D2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/>
          <p:nvPr/>
        </p:nvSpPr>
        <p:spPr>
          <a:xfrm>
            <a:off x="-530061" y="-276622"/>
            <a:ext cx="19069843" cy="19069843"/>
          </a:xfrm>
          <a:custGeom>
            <a:rect b="b" l="l" r="r" t="t"/>
            <a:pathLst>
              <a:path extrusionOk="0" h="19069843" w="19069843">
                <a:moveTo>
                  <a:pt x="0" y="0"/>
                </a:moveTo>
                <a:lnTo>
                  <a:pt x="19069843" y="0"/>
                </a:lnTo>
                <a:lnTo>
                  <a:pt x="19069843" y="19069844"/>
                </a:lnTo>
                <a:lnTo>
                  <a:pt x="0" y="19069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2" name="Google Shape;142;p6"/>
          <p:cNvGrpSpPr/>
          <p:nvPr/>
        </p:nvGrpSpPr>
        <p:grpSpPr>
          <a:xfrm>
            <a:off x="0" y="8532347"/>
            <a:ext cx="18288000" cy="3711280"/>
            <a:chOff x="0" y="-38100"/>
            <a:chExt cx="4816593" cy="977457"/>
          </a:xfrm>
        </p:grpSpPr>
        <p:sp>
          <p:nvSpPr>
            <p:cNvPr id="143" name="Google Shape;143;p6"/>
            <p:cNvSpPr/>
            <p:nvPr/>
          </p:nvSpPr>
          <p:spPr>
            <a:xfrm>
              <a:off x="0" y="0"/>
              <a:ext cx="4816592" cy="939357"/>
            </a:xfrm>
            <a:custGeom>
              <a:rect b="b" l="l" r="r" t="t"/>
              <a:pathLst>
                <a:path extrusionOk="0" h="9393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39357"/>
                  </a:lnTo>
                  <a:lnTo>
                    <a:pt x="0" y="939357"/>
                  </a:lnTo>
                  <a:close/>
                </a:path>
              </a:pathLst>
            </a:custGeom>
            <a:solidFill>
              <a:srgbClr val="35C9AC"/>
            </a:solidFill>
            <a:ln>
              <a:noFill/>
            </a:ln>
          </p:spPr>
        </p:sp>
        <p:sp>
          <p:nvSpPr>
            <p:cNvPr id="144" name="Google Shape;144;p6"/>
            <p:cNvSpPr txBox="1"/>
            <p:nvPr/>
          </p:nvSpPr>
          <p:spPr>
            <a:xfrm>
              <a:off x="0" y="-38100"/>
              <a:ext cx="4816593" cy="9774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6"/>
          <p:cNvSpPr/>
          <p:nvPr/>
        </p:nvSpPr>
        <p:spPr>
          <a:xfrm>
            <a:off x="9144000" y="1673481"/>
            <a:ext cx="748259" cy="1115292"/>
          </a:xfrm>
          <a:custGeom>
            <a:rect b="b" l="l" r="r" t="t"/>
            <a:pathLst>
              <a:path extrusionOk="0" h="1115292" w="748259">
                <a:moveTo>
                  <a:pt x="0" y="0"/>
                </a:moveTo>
                <a:lnTo>
                  <a:pt x="748259" y="0"/>
                </a:lnTo>
                <a:lnTo>
                  <a:pt x="748259" y="1115292"/>
                </a:lnTo>
                <a:lnTo>
                  <a:pt x="0" y="11152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6"/>
          <p:cNvSpPr/>
          <p:nvPr/>
        </p:nvSpPr>
        <p:spPr>
          <a:xfrm flipH="1">
            <a:off x="8027369" y="1115466"/>
            <a:ext cx="482044" cy="718494"/>
          </a:xfrm>
          <a:custGeom>
            <a:rect b="b" l="l" r="r" t="t"/>
            <a:pathLst>
              <a:path extrusionOk="0" h="718494" w="482044">
                <a:moveTo>
                  <a:pt x="482044" y="0"/>
                </a:moveTo>
                <a:lnTo>
                  <a:pt x="0" y="0"/>
                </a:lnTo>
                <a:lnTo>
                  <a:pt x="0" y="718494"/>
                </a:lnTo>
                <a:lnTo>
                  <a:pt x="482044" y="718494"/>
                </a:lnTo>
                <a:lnTo>
                  <a:pt x="482044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6"/>
          <p:cNvSpPr/>
          <p:nvPr/>
        </p:nvSpPr>
        <p:spPr>
          <a:xfrm>
            <a:off x="10811521" y="1028700"/>
            <a:ext cx="865179" cy="1289563"/>
          </a:xfrm>
          <a:custGeom>
            <a:rect b="b" l="l" r="r" t="t"/>
            <a:pathLst>
              <a:path extrusionOk="0" h="1289563" w="865179">
                <a:moveTo>
                  <a:pt x="0" y="0"/>
                </a:moveTo>
                <a:lnTo>
                  <a:pt x="865180" y="0"/>
                </a:lnTo>
                <a:lnTo>
                  <a:pt x="865180" y="1289563"/>
                </a:lnTo>
                <a:lnTo>
                  <a:pt x="0" y="12895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6"/>
          <p:cNvSpPr/>
          <p:nvPr/>
        </p:nvSpPr>
        <p:spPr>
          <a:xfrm>
            <a:off x="1478990" y="9067239"/>
            <a:ext cx="4599294" cy="2165849"/>
          </a:xfrm>
          <a:custGeom>
            <a:rect b="b" l="l" r="r" t="t"/>
            <a:pathLst>
              <a:path extrusionOk="0" h="2165849" w="4599294">
                <a:moveTo>
                  <a:pt x="0" y="0"/>
                </a:moveTo>
                <a:lnTo>
                  <a:pt x="4599294" y="0"/>
                </a:lnTo>
                <a:lnTo>
                  <a:pt x="4599294" y="2165849"/>
                </a:lnTo>
                <a:lnTo>
                  <a:pt x="0" y="21658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6"/>
          <p:cNvSpPr/>
          <p:nvPr/>
        </p:nvSpPr>
        <p:spPr>
          <a:xfrm>
            <a:off x="12079791" y="6044729"/>
            <a:ext cx="6208209" cy="4415588"/>
          </a:xfrm>
          <a:custGeom>
            <a:rect b="b" l="l" r="r" t="t"/>
            <a:pathLst>
              <a:path extrusionOk="0" h="4415588" w="6208209">
                <a:moveTo>
                  <a:pt x="0" y="0"/>
                </a:moveTo>
                <a:lnTo>
                  <a:pt x="6208209" y="0"/>
                </a:lnTo>
                <a:lnTo>
                  <a:pt x="6208209" y="4415589"/>
                </a:lnTo>
                <a:lnTo>
                  <a:pt x="0" y="44155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p6"/>
          <p:cNvSpPr txBox="1"/>
          <p:nvPr/>
        </p:nvSpPr>
        <p:spPr>
          <a:xfrm>
            <a:off x="1028700" y="2714687"/>
            <a:ext cx="16302274" cy="4724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99" u="none" cap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Visi kita adalah menjadi merek global yang terpercaya, dikenal sebagai solusi terbaik untuk masalah air dan sanitasi. </a:t>
            </a:r>
            <a:endParaRPr/>
          </a:p>
          <a:p>
            <a:pPr indent="0" lvl="0" marL="0" marR="0" rtl="0" algn="just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99" u="none" cap="none" strike="noStrike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0" marR="0" rtl="0" algn="just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99" u="none" cap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Kita tidak hanya menjual produk, tapi kita menciptakan dan meninggalkan legacy yang nyata, menjadikan hidup masyarakat lebih baik dan nyaman.</a:t>
            </a:r>
            <a:endParaRPr/>
          </a:p>
          <a:p>
            <a:pPr indent="0" lvl="0" marL="0" marR="0" rtl="0" algn="just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99" u="none" cap="none" strike="noStrike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1028700" y="1539423"/>
            <a:ext cx="6718610" cy="92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8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Visi Perusahaan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64D2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/>
          <p:nvPr/>
        </p:nvSpPr>
        <p:spPr>
          <a:xfrm>
            <a:off x="-530061" y="-276622"/>
            <a:ext cx="19069843" cy="19069843"/>
          </a:xfrm>
          <a:custGeom>
            <a:rect b="b" l="l" r="r" t="t"/>
            <a:pathLst>
              <a:path extrusionOk="0" h="19069843" w="19069843">
                <a:moveTo>
                  <a:pt x="0" y="0"/>
                </a:moveTo>
                <a:lnTo>
                  <a:pt x="19069843" y="0"/>
                </a:lnTo>
                <a:lnTo>
                  <a:pt x="19069843" y="19069844"/>
                </a:lnTo>
                <a:lnTo>
                  <a:pt x="0" y="19069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7" name="Google Shape;157;p7"/>
          <p:cNvGrpSpPr/>
          <p:nvPr/>
        </p:nvGrpSpPr>
        <p:grpSpPr>
          <a:xfrm>
            <a:off x="0" y="8532347"/>
            <a:ext cx="18288000" cy="3711280"/>
            <a:chOff x="0" y="-38100"/>
            <a:chExt cx="4816593" cy="977457"/>
          </a:xfrm>
        </p:grpSpPr>
        <p:sp>
          <p:nvSpPr>
            <p:cNvPr id="158" name="Google Shape;158;p7"/>
            <p:cNvSpPr/>
            <p:nvPr/>
          </p:nvSpPr>
          <p:spPr>
            <a:xfrm>
              <a:off x="0" y="0"/>
              <a:ext cx="4816592" cy="939357"/>
            </a:xfrm>
            <a:custGeom>
              <a:rect b="b" l="l" r="r" t="t"/>
              <a:pathLst>
                <a:path extrusionOk="0" h="9393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39357"/>
                  </a:lnTo>
                  <a:lnTo>
                    <a:pt x="0" y="939357"/>
                  </a:lnTo>
                  <a:close/>
                </a:path>
              </a:pathLst>
            </a:custGeom>
            <a:solidFill>
              <a:srgbClr val="35C9AC"/>
            </a:solidFill>
            <a:ln>
              <a:noFill/>
            </a:ln>
          </p:spPr>
        </p:sp>
        <p:sp>
          <p:nvSpPr>
            <p:cNvPr id="159" name="Google Shape;159;p7"/>
            <p:cNvSpPr txBox="1"/>
            <p:nvPr/>
          </p:nvSpPr>
          <p:spPr>
            <a:xfrm>
              <a:off x="0" y="-38100"/>
              <a:ext cx="4816593" cy="9774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7"/>
          <p:cNvSpPr txBox="1"/>
          <p:nvPr/>
        </p:nvSpPr>
        <p:spPr>
          <a:xfrm>
            <a:off x="1028700" y="885825"/>
            <a:ext cx="15767679" cy="3769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8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99" u="none" cap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Setiap produk harus nyata manfaatnya</a:t>
            </a:r>
            <a:endParaRPr/>
          </a:p>
          <a:p>
            <a:pPr indent="0" lvl="0" marL="0" marR="0" rtl="0" algn="l">
              <a:lnSpc>
                <a:spcPct val="158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99" u="none" cap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Kita ingin masyarakat berkata: “Hidup saya lebih baik sejak pakai MPOIN.”</a:t>
            </a:r>
            <a:endParaRPr/>
          </a:p>
          <a:p>
            <a:pPr indent="0" lvl="0" marL="0" marR="0" rtl="0" algn="l">
              <a:lnSpc>
                <a:spcPct val="158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99" u="none" cap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Kita bekerja bukan hanya untuk hari ini, </a:t>
            </a:r>
            <a:endParaRPr/>
          </a:p>
          <a:p>
            <a:pPr indent="0" lvl="0" marL="0" marR="0" rtl="0" algn="l">
              <a:lnSpc>
                <a:spcPct val="158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99" u="none" cap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tapi untuk warisan generasi berikutnya.</a:t>
            </a:r>
            <a:endParaRPr/>
          </a:p>
          <a:p>
            <a:pPr indent="0" lvl="0" marL="0" marR="0" rtl="0" algn="l">
              <a:lnSpc>
                <a:spcPct val="158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799" u="none" cap="none" strike="noStrike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2209269" y="6581033"/>
            <a:ext cx="1400092" cy="3031696"/>
          </a:xfrm>
          <a:custGeom>
            <a:rect b="b" l="l" r="r" t="t"/>
            <a:pathLst>
              <a:path extrusionOk="0" h="3031696" w="1400092">
                <a:moveTo>
                  <a:pt x="0" y="0"/>
                </a:moveTo>
                <a:lnTo>
                  <a:pt x="1400092" y="0"/>
                </a:lnTo>
                <a:lnTo>
                  <a:pt x="1400092" y="3031696"/>
                </a:lnTo>
                <a:lnTo>
                  <a:pt x="0" y="30316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7"/>
          <p:cNvSpPr/>
          <p:nvPr/>
        </p:nvSpPr>
        <p:spPr>
          <a:xfrm flipH="1">
            <a:off x="14260764" y="8677008"/>
            <a:ext cx="4279018" cy="2894172"/>
          </a:xfrm>
          <a:custGeom>
            <a:rect b="b" l="l" r="r" t="t"/>
            <a:pathLst>
              <a:path extrusionOk="0" h="2894172" w="4279018">
                <a:moveTo>
                  <a:pt x="4279018" y="0"/>
                </a:moveTo>
                <a:lnTo>
                  <a:pt x="0" y="0"/>
                </a:lnTo>
                <a:lnTo>
                  <a:pt x="0" y="2894172"/>
                </a:lnTo>
                <a:lnTo>
                  <a:pt x="4279018" y="2894172"/>
                </a:lnTo>
                <a:lnTo>
                  <a:pt x="4279018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7"/>
          <p:cNvSpPr/>
          <p:nvPr/>
        </p:nvSpPr>
        <p:spPr>
          <a:xfrm>
            <a:off x="17259300" y="3719686"/>
            <a:ext cx="502710" cy="749297"/>
          </a:xfrm>
          <a:custGeom>
            <a:rect b="b" l="l" r="r" t="t"/>
            <a:pathLst>
              <a:path extrusionOk="0" h="749297" w="502710">
                <a:moveTo>
                  <a:pt x="0" y="0"/>
                </a:moveTo>
                <a:lnTo>
                  <a:pt x="502710" y="0"/>
                </a:lnTo>
                <a:lnTo>
                  <a:pt x="502710" y="749297"/>
                </a:lnTo>
                <a:lnTo>
                  <a:pt x="0" y="7492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4" name="Google Shape;164;p7"/>
          <p:cNvSpPr/>
          <p:nvPr/>
        </p:nvSpPr>
        <p:spPr>
          <a:xfrm>
            <a:off x="1332234" y="6254822"/>
            <a:ext cx="502710" cy="749297"/>
          </a:xfrm>
          <a:custGeom>
            <a:rect b="b" l="l" r="r" t="t"/>
            <a:pathLst>
              <a:path extrusionOk="0" h="749297" w="502710">
                <a:moveTo>
                  <a:pt x="0" y="0"/>
                </a:moveTo>
                <a:lnTo>
                  <a:pt x="502710" y="0"/>
                </a:lnTo>
                <a:lnTo>
                  <a:pt x="502710" y="749297"/>
                </a:lnTo>
                <a:lnTo>
                  <a:pt x="0" y="7492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" name="Google Shape;165;p7"/>
          <p:cNvSpPr/>
          <p:nvPr/>
        </p:nvSpPr>
        <p:spPr>
          <a:xfrm>
            <a:off x="15742015" y="2263846"/>
            <a:ext cx="1054364" cy="1571545"/>
          </a:xfrm>
          <a:custGeom>
            <a:rect b="b" l="l" r="r" t="t"/>
            <a:pathLst>
              <a:path extrusionOk="0" h="1571545" w="1054364">
                <a:moveTo>
                  <a:pt x="0" y="0"/>
                </a:moveTo>
                <a:lnTo>
                  <a:pt x="1054364" y="0"/>
                </a:lnTo>
                <a:lnTo>
                  <a:pt x="1054364" y="1571545"/>
                </a:lnTo>
                <a:lnTo>
                  <a:pt x="0" y="15715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7"/>
          <p:cNvSpPr txBox="1"/>
          <p:nvPr/>
        </p:nvSpPr>
        <p:spPr>
          <a:xfrm>
            <a:off x="903022" y="4298641"/>
            <a:ext cx="16481955" cy="3769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8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99" u="none" cap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Bayangkan 10–20 tahun dari sekarang, saat orang mendengar nama MPOIN, </a:t>
            </a:r>
            <a:endParaRPr/>
          </a:p>
          <a:p>
            <a:pPr indent="0" lvl="0" marL="0" marR="0" rtl="0" algn="r">
              <a:lnSpc>
                <a:spcPct val="158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99" u="none" cap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Mereka akan bilang: </a:t>
            </a:r>
            <a:endParaRPr/>
          </a:p>
          <a:p>
            <a:pPr indent="0" lvl="0" marL="0" marR="0" rtl="0" algn="r">
              <a:lnSpc>
                <a:spcPct val="158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99" u="none" cap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"MPOIN? Udah paling bener. Hidupku jadi lebih mudah dan nyaman sejak pakai produk mereka."</a:t>
            </a:r>
            <a:endParaRPr/>
          </a:p>
          <a:p>
            <a:pPr indent="0" lvl="0" marL="0" marR="0" rtl="0" algn="r">
              <a:lnSpc>
                <a:spcPct val="158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799" u="none" cap="none" strike="noStrike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64D2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/>
          <p:nvPr/>
        </p:nvSpPr>
        <p:spPr>
          <a:xfrm>
            <a:off x="-530061" y="-276622"/>
            <a:ext cx="19069843" cy="19069843"/>
          </a:xfrm>
          <a:custGeom>
            <a:rect b="b" l="l" r="r" t="t"/>
            <a:pathLst>
              <a:path extrusionOk="0" h="19069843" w="19069843">
                <a:moveTo>
                  <a:pt x="0" y="0"/>
                </a:moveTo>
                <a:lnTo>
                  <a:pt x="19069843" y="0"/>
                </a:lnTo>
                <a:lnTo>
                  <a:pt x="19069843" y="19069844"/>
                </a:lnTo>
                <a:lnTo>
                  <a:pt x="0" y="19069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8"/>
          <p:cNvSpPr/>
          <p:nvPr/>
        </p:nvSpPr>
        <p:spPr>
          <a:xfrm>
            <a:off x="19050" y="-688337"/>
            <a:ext cx="4870720" cy="6669789"/>
          </a:xfrm>
          <a:custGeom>
            <a:rect b="b" l="l" r="r" t="t"/>
            <a:pathLst>
              <a:path extrusionOk="0" h="6669789" w="4870720">
                <a:moveTo>
                  <a:pt x="0" y="0"/>
                </a:moveTo>
                <a:lnTo>
                  <a:pt x="4870720" y="0"/>
                </a:lnTo>
                <a:lnTo>
                  <a:pt x="4870720" y="6669789"/>
                </a:lnTo>
                <a:lnTo>
                  <a:pt x="0" y="66697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538" l="0" r="0" t="0"/>
            </a:stretch>
          </a:blipFill>
          <a:ln>
            <a:noFill/>
          </a:ln>
        </p:spPr>
      </p:sp>
      <p:sp>
        <p:nvSpPr>
          <p:cNvPr id="173" name="Google Shape;173;p8"/>
          <p:cNvSpPr/>
          <p:nvPr/>
        </p:nvSpPr>
        <p:spPr>
          <a:xfrm rot="10800000">
            <a:off x="117611" y="5175173"/>
            <a:ext cx="5108668" cy="4114800"/>
          </a:xfrm>
          <a:custGeom>
            <a:rect b="b" l="l" r="r" t="t"/>
            <a:pathLst>
              <a:path extrusionOk="0" h="4114800" w="5108668">
                <a:moveTo>
                  <a:pt x="0" y="0"/>
                </a:moveTo>
                <a:lnTo>
                  <a:pt x="5108668" y="0"/>
                </a:lnTo>
                <a:lnTo>
                  <a:pt x="51086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p8"/>
          <p:cNvSpPr/>
          <p:nvPr/>
        </p:nvSpPr>
        <p:spPr>
          <a:xfrm>
            <a:off x="10391088" y="2646557"/>
            <a:ext cx="7581519" cy="8229600"/>
          </a:xfrm>
          <a:custGeom>
            <a:rect b="b" l="l" r="r" t="t"/>
            <a:pathLst>
              <a:path extrusionOk="0" h="8229600" w="7581519">
                <a:moveTo>
                  <a:pt x="0" y="0"/>
                </a:moveTo>
                <a:lnTo>
                  <a:pt x="7581519" y="0"/>
                </a:lnTo>
                <a:lnTo>
                  <a:pt x="75815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8"/>
          <p:cNvSpPr txBox="1"/>
          <p:nvPr/>
        </p:nvSpPr>
        <p:spPr>
          <a:xfrm>
            <a:off x="5226279" y="4215093"/>
            <a:ext cx="7835441" cy="292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Smart Product</a:t>
            </a:r>
            <a:endParaRPr/>
          </a:p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Smart Manufacturing Smart Distribution</a:t>
            </a:r>
            <a:endParaRPr/>
          </a:p>
        </p:txBody>
      </p:sp>
      <p:sp>
        <p:nvSpPr>
          <p:cNvPr id="176" name="Google Shape;176;p8"/>
          <p:cNvSpPr txBox="1"/>
          <p:nvPr/>
        </p:nvSpPr>
        <p:spPr>
          <a:xfrm>
            <a:off x="5008054" y="1496560"/>
            <a:ext cx="7993500" cy="40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99" u="none" cap="none" strike="noStrike">
                <a:solidFill>
                  <a:srgbClr val="F1DB62"/>
                </a:solidFill>
                <a:latin typeface="Arial"/>
                <a:ea typeface="Arial"/>
                <a:cs typeface="Arial"/>
                <a:sym typeface="Arial"/>
              </a:rPr>
              <a:t>misi Perusahaan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799" u="none" cap="none" strike="noStrike">
              <a:solidFill>
                <a:srgbClr val="F1DB6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64D2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/>
          <p:nvPr/>
        </p:nvSpPr>
        <p:spPr>
          <a:xfrm>
            <a:off x="-530061" y="-276622"/>
            <a:ext cx="19069843" cy="19069843"/>
          </a:xfrm>
          <a:custGeom>
            <a:rect b="b" l="l" r="r" t="t"/>
            <a:pathLst>
              <a:path extrusionOk="0" h="19069843" w="19069843">
                <a:moveTo>
                  <a:pt x="0" y="0"/>
                </a:moveTo>
                <a:lnTo>
                  <a:pt x="19069843" y="0"/>
                </a:lnTo>
                <a:lnTo>
                  <a:pt x="19069843" y="19069844"/>
                </a:lnTo>
                <a:lnTo>
                  <a:pt x="0" y="19069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2" name="Google Shape;182;p9"/>
          <p:cNvGrpSpPr/>
          <p:nvPr/>
        </p:nvGrpSpPr>
        <p:grpSpPr>
          <a:xfrm>
            <a:off x="0" y="8532347"/>
            <a:ext cx="18288000" cy="3711280"/>
            <a:chOff x="0" y="-38100"/>
            <a:chExt cx="4816593" cy="977457"/>
          </a:xfrm>
        </p:grpSpPr>
        <p:sp>
          <p:nvSpPr>
            <p:cNvPr id="183" name="Google Shape;183;p9"/>
            <p:cNvSpPr/>
            <p:nvPr/>
          </p:nvSpPr>
          <p:spPr>
            <a:xfrm>
              <a:off x="0" y="0"/>
              <a:ext cx="4816592" cy="939357"/>
            </a:xfrm>
            <a:custGeom>
              <a:rect b="b" l="l" r="r" t="t"/>
              <a:pathLst>
                <a:path extrusionOk="0" h="9393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39357"/>
                  </a:lnTo>
                  <a:lnTo>
                    <a:pt x="0" y="939357"/>
                  </a:lnTo>
                  <a:close/>
                </a:path>
              </a:pathLst>
            </a:custGeom>
            <a:solidFill>
              <a:srgbClr val="35C9AC"/>
            </a:solidFill>
            <a:ln>
              <a:noFill/>
            </a:ln>
          </p:spPr>
        </p:sp>
        <p:sp>
          <p:nvSpPr>
            <p:cNvPr id="184" name="Google Shape;184;p9"/>
            <p:cNvSpPr txBox="1"/>
            <p:nvPr/>
          </p:nvSpPr>
          <p:spPr>
            <a:xfrm>
              <a:off x="0" y="-38100"/>
              <a:ext cx="4816593" cy="9774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p9"/>
          <p:cNvSpPr/>
          <p:nvPr/>
        </p:nvSpPr>
        <p:spPr>
          <a:xfrm>
            <a:off x="375849" y="8660451"/>
            <a:ext cx="4599294" cy="2165849"/>
          </a:xfrm>
          <a:custGeom>
            <a:rect b="b" l="l" r="r" t="t"/>
            <a:pathLst>
              <a:path extrusionOk="0" h="2165849" w="4599294">
                <a:moveTo>
                  <a:pt x="0" y="0"/>
                </a:moveTo>
                <a:lnTo>
                  <a:pt x="4599294" y="0"/>
                </a:lnTo>
                <a:lnTo>
                  <a:pt x="4599294" y="2165850"/>
                </a:lnTo>
                <a:lnTo>
                  <a:pt x="0" y="2165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p9"/>
          <p:cNvSpPr txBox="1"/>
          <p:nvPr/>
        </p:nvSpPr>
        <p:spPr>
          <a:xfrm>
            <a:off x="1028700" y="2428326"/>
            <a:ext cx="12323061" cy="857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Inovasi lahir dari masalah nyata.</a:t>
            </a:r>
            <a:endParaRPr/>
          </a:p>
        </p:txBody>
      </p:sp>
      <p:sp>
        <p:nvSpPr>
          <p:cNvPr id="187" name="Google Shape;187;p9"/>
          <p:cNvSpPr txBox="1"/>
          <p:nvPr/>
        </p:nvSpPr>
        <p:spPr>
          <a:xfrm>
            <a:off x="1028700" y="1196626"/>
            <a:ext cx="13759287" cy="821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9" u="none" cap="none" strike="noStrike">
                <a:solidFill>
                  <a:srgbClr val="F1DB62"/>
                </a:solidFill>
                <a:latin typeface="Arial"/>
                <a:ea typeface="Arial"/>
                <a:cs typeface="Arial"/>
                <a:sym typeface="Arial"/>
              </a:rPr>
              <a:t>1. menciptakan produksi solusi nyata</a:t>
            </a:r>
            <a:endParaRPr/>
          </a:p>
        </p:txBody>
      </p:sp>
      <p:sp>
        <p:nvSpPr>
          <p:cNvPr id="188" name="Google Shape;188;p9"/>
          <p:cNvSpPr txBox="1"/>
          <p:nvPr/>
        </p:nvSpPr>
        <p:spPr>
          <a:xfrm>
            <a:off x="1028700" y="3657519"/>
            <a:ext cx="15660323" cy="433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99" u="none" cap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Kita akan terus berinovasi untuk memecahkan masalah </a:t>
            </a:r>
            <a:endParaRPr/>
          </a:p>
          <a:p>
            <a:pPr indent="0" lvl="0" marL="0" marR="0" rtl="0" algn="just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99" u="none" cap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nyata yang dihadapi masyarakat terkait air dan </a:t>
            </a:r>
            <a:endParaRPr/>
          </a:p>
          <a:p>
            <a:pPr indent="0" lvl="0" marL="0" marR="0" rtl="0" algn="just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99" u="none" cap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sanitasi. Setiap produk baru harus membawa solusi </a:t>
            </a:r>
            <a:endParaRPr/>
          </a:p>
          <a:p>
            <a:pPr indent="0" lvl="0" marL="0" marR="0" rtl="0" algn="just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99" u="none" cap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konkret, bukan sekadar tambahan di pasar.</a:t>
            </a:r>
            <a:endParaRPr/>
          </a:p>
          <a:p>
            <a:pPr indent="0" lvl="0" marL="0" marR="0" rtl="0" algn="just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99" u="none" cap="none" strike="noStrike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indent="0" lvl="0" marL="0" marR="0" rtl="0" algn="just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99" u="none" cap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Contoh: MPOIN Drain Tank → solusi kuras otomatis.</a:t>
            </a:r>
            <a:endParaRPr/>
          </a:p>
          <a:p>
            <a:pPr indent="0" lvl="0" marL="0" marR="0" rtl="0" algn="just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99" u="none" cap="none" strike="noStrike">
              <a:solidFill>
                <a:srgbClr val="FFFFFF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12381325" y="2800119"/>
            <a:ext cx="7077460" cy="7367514"/>
          </a:xfrm>
          <a:custGeom>
            <a:rect b="b" l="l" r="r" t="t"/>
            <a:pathLst>
              <a:path extrusionOk="0" h="7367514" w="7077460">
                <a:moveTo>
                  <a:pt x="0" y="0"/>
                </a:moveTo>
                <a:lnTo>
                  <a:pt x="7077460" y="0"/>
                </a:lnTo>
                <a:lnTo>
                  <a:pt x="7077460" y="7367514"/>
                </a:lnTo>
                <a:lnTo>
                  <a:pt x="0" y="73675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2048" r="-2048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64D2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"/>
          <p:cNvSpPr/>
          <p:nvPr/>
        </p:nvSpPr>
        <p:spPr>
          <a:xfrm>
            <a:off x="-530061" y="-276622"/>
            <a:ext cx="19069843" cy="19069843"/>
          </a:xfrm>
          <a:custGeom>
            <a:rect b="b" l="l" r="r" t="t"/>
            <a:pathLst>
              <a:path extrusionOk="0" h="19069843" w="19069843">
                <a:moveTo>
                  <a:pt x="0" y="0"/>
                </a:moveTo>
                <a:lnTo>
                  <a:pt x="19069843" y="0"/>
                </a:lnTo>
                <a:lnTo>
                  <a:pt x="19069843" y="19069844"/>
                </a:lnTo>
                <a:lnTo>
                  <a:pt x="0" y="19069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5" name="Google Shape;195;p10"/>
          <p:cNvGrpSpPr/>
          <p:nvPr/>
        </p:nvGrpSpPr>
        <p:grpSpPr>
          <a:xfrm>
            <a:off x="0" y="8532347"/>
            <a:ext cx="18288000" cy="3711280"/>
            <a:chOff x="0" y="-38100"/>
            <a:chExt cx="4816593" cy="977457"/>
          </a:xfrm>
        </p:grpSpPr>
        <p:sp>
          <p:nvSpPr>
            <p:cNvPr id="196" name="Google Shape;196;p10"/>
            <p:cNvSpPr/>
            <p:nvPr/>
          </p:nvSpPr>
          <p:spPr>
            <a:xfrm>
              <a:off x="0" y="0"/>
              <a:ext cx="4816592" cy="939357"/>
            </a:xfrm>
            <a:custGeom>
              <a:rect b="b" l="l" r="r" t="t"/>
              <a:pathLst>
                <a:path extrusionOk="0" h="9393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39357"/>
                  </a:lnTo>
                  <a:lnTo>
                    <a:pt x="0" y="939357"/>
                  </a:lnTo>
                  <a:close/>
                </a:path>
              </a:pathLst>
            </a:custGeom>
            <a:solidFill>
              <a:srgbClr val="35C9AC"/>
            </a:solidFill>
            <a:ln>
              <a:noFill/>
            </a:ln>
          </p:spPr>
        </p:sp>
        <p:sp>
          <p:nvSpPr>
            <p:cNvPr id="197" name="Google Shape;197;p10"/>
            <p:cNvSpPr txBox="1"/>
            <p:nvPr/>
          </p:nvSpPr>
          <p:spPr>
            <a:xfrm>
              <a:off x="0" y="-38100"/>
              <a:ext cx="4816593" cy="9774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10"/>
          <p:cNvSpPr txBox="1"/>
          <p:nvPr/>
        </p:nvSpPr>
        <p:spPr>
          <a:xfrm>
            <a:off x="1683897" y="2777862"/>
            <a:ext cx="14820652" cy="2049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Produk harus awet, kuat, dan aman.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Nama besar MPOIN adalah jaminan kualitas.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0"/>
          <p:cNvSpPr txBox="1"/>
          <p:nvPr/>
        </p:nvSpPr>
        <p:spPr>
          <a:xfrm>
            <a:off x="1028700" y="1539984"/>
            <a:ext cx="11915717" cy="761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F1DB62"/>
                </a:solidFill>
                <a:latin typeface="Arial"/>
                <a:ea typeface="Arial"/>
                <a:cs typeface="Arial"/>
                <a:sym typeface="Arial"/>
              </a:rPr>
              <a:t>2. Menjaga kualitas tanpa kompromi</a:t>
            </a:r>
            <a:endParaRPr/>
          </a:p>
        </p:txBody>
      </p:sp>
      <p:sp>
        <p:nvSpPr>
          <p:cNvPr id="200" name="Google Shape;200;p10"/>
          <p:cNvSpPr txBox="1"/>
          <p:nvPr/>
        </p:nvSpPr>
        <p:spPr>
          <a:xfrm>
            <a:off x="5725807" y="6446415"/>
            <a:ext cx="16063820" cy="2230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Kiriman cepat, garansi jelas,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after-sales nyata.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0"/>
          <p:cNvSpPr txBox="1"/>
          <p:nvPr/>
        </p:nvSpPr>
        <p:spPr>
          <a:xfrm>
            <a:off x="5185523" y="4572502"/>
            <a:ext cx="16604103" cy="2171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F1DB62"/>
                </a:solidFill>
                <a:latin typeface="Arial"/>
                <a:ea typeface="Arial"/>
                <a:cs typeface="Arial"/>
                <a:sym typeface="Arial"/>
              </a:rPr>
              <a:t>3. Membangun Sistem Distribusi &amp;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0" u="none" cap="none" strike="noStrike">
                <a:solidFill>
                  <a:srgbClr val="F1DB62"/>
                </a:solidFill>
                <a:latin typeface="Arial"/>
                <a:ea typeface="Arial"/>
                <a:cs typeface="Arial"/>
                <a:sym typeface="Arial"/>
              </a:rPr>
              <a:t>Pelayanan Cepat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600" u="none" cap="none" strike="noStrike">
              <a:solidFill>
                <a:srgbClr val="F1DB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0" y="3653067"/>
            <a:ext cx="6006398" cy="6807251"/>
          </a:xfrm>
          <a:custGeom>
            <a:rect b="b" l="l" r="r" t="t"/>
            <a:pathLst>
              <a:path extrusionOk="0" h="6807251" w="6006398">
                <a:moveTo>
                  <a:pt x="0" y="0"/>
                </a:moveTo>
                <a:lnTo>
                  <a:pt x="6006398" y="0"/>
                </a:lnTo>
                <a:lnTo>
                  <a:pt x="6006398" y="6807251"/>
                </a:lnTo>
                <a:lnTo>
                  <a:pt x="0" y="68072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